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Source Sans 3"/>
      <p:regular r:id="rId201314"/>
    </p:embeddedFont>
    <p:embeddedFont>
      <p:font typeface="Source Sans 3 SemiBold"/>
      <p:regular r:id="rId201315"/>
    </p:embeddedFont>
    <p:embeddedFont>
      <p:font typeface="Source Sans 3 Bold"/>
      <p:regular r:id="rId201316"/>
    </p:embeddedFont>
    <p:embeddedFont>
      <p:font typeface="Source Sans 3 Black"/>
      <p:regular r:id="rId201317"/>
    </p:embeddedFont>
    <p:embeddedFont>
      <p:font typeface="Source Serif 4"/>
      <p:regular r:id="rId201318"/>
    </p:embeddedFont>
    <p:embeddedFont>
      <p:font typeface="Source Serif 4 SemiBold"/>
      <p:regular r:id="rId201319"/>
    </p:embeddedFont>
    <p:embeddedFont>
      <p:font typeface="Source Serif 4 Bold"/>
      <p:regular r:id="rId201320"/>
    </p:embeddedFont>
    <p:embeddedFont>
      <p:font typeface="Source Serif 4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1.png"/><Relationship Id="rId8" Type="http://schemas.openxmlformats.org/officeDocument/2006/relationships/image" Target="../media/image-8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69971" y="1111448"/>
            <a:ext cx="1083342" cy="303113"/>
          </a:xfrm>
          <a:prstGeom prst="roundRect">
            <a:avLst>
              <a:gd name="adj" fmla="val 22112"/>
            </a:avLst>
          </a:prstGeom>
          <a:solidFill>
            <a:srgbClr val="F0D4F7"/>
          </a:solidFill>
          <a:ln/>
        </p:spPr>
      </p:sp>
      <p:sp>
        <p:nvSpPr>
          <p:cNvPr id="4" name="Text 1"/>
          <p:cNvSpPr/>
          <p:nvPr/>
        </p:nvSpPr>
        <p:spPr>
          <a:xfrm>
            <a:off x="5389626" y="1171277"/>
            <a:ext cx="1453618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SGU AI-THON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269971" y="1494334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BE49D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AAPDA SETU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5269971" y="2380159"/>
            <a:ext cx="6223638" cy="242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spc="-102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One Platform. Every Disaster. Every Stage.</a:t>
            </a:r>
            <a:endParaRPr lang="en-US" sz="5100" dirty="0"/>
          </a:p>
        </p:txBody>
      </p:sp>
      <p:sp>
        <p:nvSpPr>
          <p:cNvPr id="7" name="Text 4"/>
          <p:cNvSpPr/>
          <p:nvPr/>
        </p:nvSpPr>
        <p:spPr>
          <a:xfrm>
            <a:off x="5269971" y="5108178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Presented by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Team Semicolon Squad</a:t>
            </a:r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Hardik Dagar · Ananya Shree · Akshara Gupta · Divyansh Bhardwaj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8086" y="618927"/>
            <a:ext cx="575355" cy="196949"/>
          </a:xfrm>
          <a:prstGeom prst="roundRect">
            <a:avLst>
              <a:gd name="adj" fmla="val 22121"/>
            </a:avLst>
          </a:prstGeom>
          <a:solidFill>
            <a:srgbClr val="F0D4F7"/>
          </a:solidFill>
          <a:ln/>
        </p:spPr>
      </p:sp>
      <p:sp>
        <p:nvSpPr>
          <p:cNvPr id="4" name="Text 1"/>
          <p:cNvSpPr/>
          <p:nvPr/>
        </p:nvSpPr>
        <p:spPr>
          <a:xfrm>
            <a:off x="775871" y="657820"/>
            <a:ext cx="1029369" cy="119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TEAM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98086" y="849511"/>
            <a:ext cx="6223638" cy="381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48" kern="0" dirty="0">
                <a:solidFill>
                  <a:srgbClr val="BE49D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semicolon squad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98086" y="1357213"/>
            <a:ext cx="6223638" cy="1157288"/>
          </a:xfrm>
          <a:prstGeom prst="roundRect">
            <a:avLst>
              <a:gd name="adj" fmla="val 4706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34012" y="1493143"/>
            <a:ext cx="388928" cy="388938"/>
          </a:xfrm>
          <a:prstGeom prst="ellipse">
            <a:avLst/>
          </a:prstGeom>
          <a:solidFill>
            <a:srgbClr val="BE49D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0967" y="1600002"/>
            <a:ext cx="175017" cy="1750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4012" y="1966317"/>
            <a:ext cx="5951785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Hardik Dagar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34012" y="2207419"/>
            <a:ext cx="5951785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-20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HD</a:t>
            </a:r>
            <a:pPr algn="l" indent="0" marL="0">
              <a:lnSpc>
                <a:spcPct val="110000"/>
              </a:lnSpc>
              <a:buNone/>
            </a:pPr>
            <a:r>
              <a:rPr lang="en-US" sz="100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Leader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98086" y="2598738"/>
            <a:ext cx="6223638" cy="1157288"/>
          </a:xfrm>
          <a:prstGeom prst="roundRect">
            <a:avLst>
              <a:gd name="adj" fmla="val 4706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34012" y="2734667"/>
            <a:ext cx="388928" cy="388938"/>
          </a:xfrm>
          <a:prstGeom prst="ellipse">
            <a:avLst/>
          </a:prstGeom>
          <a:solidFill>
            <a:srgbClr val="BE49D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0967" y="2841526"/>
            <a:ext cx="175017" cy="17502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4012" y="3207841"/>
            <a:ext cx="5951785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Ananya Shree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834012" y="3448943"/>
            <a:ext cx="5951785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-20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AS</a:t>
            </a:r>
            <a:pPr algn="l" indent="0" marL="0">
              <a:lnSpc>
                <a:spcPct val="110000"/>
              </a:lnSpc>
              <a:buNone/>
            </a:pPr>
            <a:r>
              <a:rPr lang="en-US" sz="100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Member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98086" y="3840262"/>
            <a:ext cx="6223638" cy="1157288"/>
          </a:xfrm>
          <a:prstGeom prst="roundRect">
            <a:avLst>
              <a:gd name="adj" fmla="val 4706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4012" y="3976191"/>
            <a:ext cx="388928" cy="388938"/>
          </a:xfrm>
          <a:prstGeom prst="ellipse">
            <a:avLst/>
          </a:prstGeom>
          <a:solidFill>
            <a:srgbClr val="BE49D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0967" y="4083050"/>
            <a:ext cx="175017" cy="17502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4012" y="4449366"/>
            <a:ext cx="5951785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Akshara Gupta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34012" y="4690467"/>
            <a:ext cx="5951785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-20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AG</a:t>
            </a:r>
            <a:pPr algn="l" indent="0" marL="0">
              <a:lnSpc>
                <a:spcPct val="110000"/>
              </a:lnSpc>
              <a:buNone/>
            </a:pPr>
            <a:r>
              <a:rPr lang="en-US" sz="100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Member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98086" y="5081786"/>
            <a:ext cx="6223638" cy="1157288"/>
          </a:xfrm>
          <a:prstGeom prst="roundRect">
            <a:avLst>
              <a:gd name="adj" fmla="val 4706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34012" y="5217716"/>
            <a:ext cx="388928" cy="388938"/>
          </a:xfrm>
          <a:prstGeom prst="ellipse">
            <a:avLst/>
          </a:prstGeom>
          <a:solidFill>
            <a:srgbClr val="BE49D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0967" y="5324574"/>
            <a:ext cx="175017" cy="17502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4012" y="5690890"/>
            <a:ext cx="5951785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Divyansh Bhardwaj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834012" y="5931991"/>
            <a:ext cx="5951785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-20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DB</a:t>
            </a:r>
            <a:pPr algn="l" indent="0" marL="0">
              <a:lnSpc>
                <a:spcPct val="110000"/>
              </a:lnSpc>
              <a:buNone/>
            </a:pPr>
            <a:r>
              <a:rPr lang="en-US" sz="100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Member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1032272"/>
            <a:ext cx="1659194" cy="303113"/>
          </a:xfrm>
          <a:prstGeom prst="roundRect">
            <a:avLst>
              <a:gd name="adj" fmla="val 22112"/>
            </a:avLst>
          </a:prstGeom>
          <a:solidFill>
            <a:srgbClr val="F0D4F7"/>
          </a:solidFill>
          <a:ln/>
        </p:spPr>
      </p:sp>
      <p:sp>
        <p:nvSpPr>
          <p:cNvPr id="3" name="Text 1"/>
          <p:cNvSpPr/>
          <p:nvPr/>
        </p:nvSpPr>
        <p:spPr>
          <a:xfrm>
            <a:off x="817740" y="1092101"/>
            <a:ext cx="2029469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456992" y="1032272"/>
            <a:ext cx="3677550" cy="303113"/>
          </a:xfrm>
          <a:prstGeom prst="roundRect">
            <a:avLst>
              <a:gd name="adj" fmla="val 22112"/>
            </a:avLst>
          </a:prstGeom>
          <a:noFill/>
          <a:ln w="6350">
            <a:solidFill>
              <a:srgbClr val="BE49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76646" y="1092101"/>
            <a:ext cx="4047825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-31" kern="0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PS3 — DISASTER RESPONSE INTELLIGENCE PLATFORM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98086" y="1415157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Every Disaster Is </a:t>
            </a:r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BE49D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Handled In Silos</a:t>
            </a:r>
            <a:endParaRPr lang="en-US" sz="3650" dirty="0"/>
          </a:p>
        </p:txBody>
      </p:sp>
      <p:sp>
        <p:nvSpPr>
          <p:cNvPr id="7" name="Shape 5"/>
          <p:cNvSpPr/>
          <p:nvPr/>
        </p:nvSpPr>
        <p:spPr>
          <a:xfrm>
            <a:off x="554520" y="2300982"/>
            <a:ext cx="5441615" cy="3524647"/>
          </a:xfrm>
          <a:prstGeom prst="roundRect">
            <a:avLst>
              <a:gd name="adj" fmla="val 4075"/>
            </a:avLst>
          </a:prstGeom>
          <a:solidFill>
            <a:srgbClr val="BE49DF">
              <a:alpha val="9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53944" y="2500412"/>
            <a:ext cx="504276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The Broken System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53944" y="2993132"/>
            <a:ext cx="5042766" cy="2762746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Prediction systems don't communicate with citizens in real time.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Citizens have no direct way to signal they're stuck during a disaster.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Hospitals don't share inventory status with disaster coordinators.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Local officials have no direct channel to request resources from central government.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345476" y="2500412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Who Is Affected &amp; Why It Matters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45476" y="2993132"/>
            <a:ext cx="5154484" cy="2762746"/>
          </a:xfrm>
          <a:prstGeom prst="rect">
            <a:avLst/>
          </a:prstGeom>
          <a:noFill/>
          <a:ln/>
        </p:spPr>
        <p:txBody>
          <a:bodyPr wrap="square" lIns="0" tIns="79791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Citizens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flood / earthquake / tsunami-prone zones with no direct rescue channel.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Field officials &amp; NDRF-SDRF teams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without a live, unified view of the ground situation.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Hospitals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isolated from disaster coordination despite being critical responders.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Existing approaches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stop at prediction — leaving response and coordination manual and slow.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920055"/>
            <a:ext cx="1657606" cy="303113"/>
          </a:xfrm>
          <a:prstGeom prst="roundRect">
            <a:avLst>
              <a:gd name="adj" fmla="val 22112"/>
            </a:avLst>
          </a:prstGeom>
          <a:solidFill>
            <a:srgbClr val="F0D4F7"/>
          </a:solidFill>
          <a:ln/>
        </p:spPr>
      </p:sp>
      <p:sp>
        <p:nvSpPr>
          <p:cNvPr id="3" name="Text 1"/>
          <p:cNvSpPr/>
          <p:nvPr/>
        </p:nvSpPr>
        <p:spPr>
          <a:xfrm>
            <a:off x="817740" y="979884"/>
            <a:ext cx="2027881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PROPOSED SOLUTION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302941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 Unified, Multi-Disaster </a:t>
            </a:r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BE49D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Intelligence Platform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98086" y="2188766"/>
            <a:ext cx="107955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Aapda Setu bridges citizens, field officials, and central authorities across the entire disaster lifecycle — predicting risk, guiding rescue, and coordinating resources.</a:t>
            </a:r>
            <a:endParaRPr lang="en-US" sz="1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3051473"/>
            <a:ext cx="3598475" cy="7979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7510" y="4048820"/>
            <a:ext cx="319962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01 — BEFORE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97510" y="4461768"/>
            <a:ext cx="3199625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Prediction &amp; Awareness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ML-based disaster risk prediction at district/ward level; automated multilingual alerts to citizens &amp; officials.</a:t>
            </a:r>
            <a:endParaRPr lang="en-US" sz="15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560" y="3051473"/>
            <a:ext cx="3598475" cy="79791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95985" y="4048820"/>
            <a:ext cx="319962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02 — DURING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495985" y="4461768"/>
            <a:ext cx="3199625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Response &amp; Rescue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shelter/hospital map; one-tap SOS with geo-location; official dashboard ranking requests by urgency.</a:t>
            </a:r>
            <a:endParaRPr lang="en-US" sz="15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035" y="3051473"/>
            <a:ext cx="3598475" cy="79791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94460" y="4048820"/>
            <a:ext cx="319962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03 — RESOURCE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8094460" y="4461768"/>
            <a:ext cx="3199625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Coordination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hospital &amp; official inventory tracking; direct escalation channel to central/state authorities.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967085"/>
            <a:ext cx="990377" cy="257572"/>
          </a:xfrm>
          <a:prstGeom prst="roundRect">
            <a:avLst>
              <a:gd name="adj" fmla="val 22119"/>
            </a:avLst>
          </a:prstGeom>
          <a:solidFill>
            <a:srgbClr val="F0D4F7"/>
          </a:solidFill>
          <a:ln/>
        </p:spPr>
      </p:sp>
      <p:sp>
        <p:nvSpPr>
          <p:cNvPr id="3" name="Text 1"/>
          <p:cNvSpPr/>
          <p:nvPr/>
        </p:nvSpPr>
        <p:spPr>
          <a:xfrm>
            <a:off x="799782" y="1017885"/>
            <a:ext cx="1396568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FEATURES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98086" y="1282303"/>
            <a:ext cx="10795524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spc="-63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Six Features. </a:t>
            </a:r>
            <a:pPr algn="l" indent="0" marL="0">
              <a:lnSpc>
                <a:spcPct val="104000"/>
              </a:lnSpc>
              <a:buNone/>
            </a:pPr>
            <a:r>
              <a:rPr lang="en-US" sz="3100" spc="-63" kern="0" dirty="0">
                <a:solidFill>
                  <a:srgbClr val="BE49D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One Platform.</a:t>
            </a:r>
            <a:endParaRPr lang="en-US" sz="3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1997075"/>
            <a:ext cx="339022" cy="3390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8086" y="2516188"/>
            <a:ext cx="530767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Risk Prediction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98086" y="2851944"/>
            <a:ext cx="5307673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ML model predicts flood/earthquake/tsunami risk at district/ward level.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5837" y="1997075"/>
            <a:ext cx="339022" cy="3390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85837" y="2516188"/>
            <a:ext cx="530777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Multilingual Alerts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6185837" y="2851944"/>
            <a:ext cx="5307773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early-warning alerts in regional languages, before disaster strikes.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3391098"/>
            <a:ext cx="339022" cy="3390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8086" y="3910211"/>
            <a:ext cx="530767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One-Tap SOS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698086" y="4245967"/>
            <a:ext cx="5307673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Citizens raise a geo-tagged rescue alert instantly from their phone.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5837" y="3391098"/>
            <a:ext cx="339022" cy="33903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85837" y="3910211"/>
            <a:ext cx="530777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Live Ops Dashboard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6185837" y="4245967"/>
            <a:ext cx="5307773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Officials see all SOS requests, ranked by urgency &amp; density, on a live map.</a:t>
            </a:r>
            <a:endParaRPr lang="en-US" sz="13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086" y="4785122"/>
            <a:ext cx="339022" cy="33903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8086" y="5304234"/>
            <a:ext cx="530767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Hospital Inventory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698086" y="5639991"/>
            <a:ext cx="5307673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visibility into beds, oxygen, medicines, and ambulances.</a:t>
            </a:r>
            <a:endParaRPr lang="en-US" sz="13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85837" y="4785122"/>
            <a:ext cx="339022" cy="33903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185837" y="5304234"/>
            <a:ext cx="530777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Resource Escalation</a:t>
            </a:r>
            <a:endParaRPr lang="en-US" sz="1550" dirty="0"/>
          </a:p>
        </p:txBody>
      </p:sp>
      <p:sp>
        <p:nvSpPr>
          <p:cNvPr id="22" name="Text 14"/>
          <p:cNvSpPr/>
          <p:nvPr/>
        </p:nvSpPr>
        <p:spPr>
          <a:xfrm>
            <a:off x="6185837" y="5639991"/>
            <a:ext cx="5307773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Officials raise auto-filled resource requests directly to central/state authorities.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96801"/>
            <a:ext cx="1702353" cy="238621"/>
          </a:xfrm>
          <a:prstGeom prst="roundRect">
            <a:avLst>
              <a:gd name="adj" fmla="val 22120"/>
            </a:avLst>
          </a:prstGeom>
          <a:solidFill>
            <a:srgbClr val="F0D4F7"/>
          </a:solidFill>
          <a:ln/>
        </p:spPr>
      </p:sp>
      <p:sp>
        <p:nvSpPr>
          <p:cNvPr id="3" name="Text 1"/>
          <p:cNvSpPr/>
          <p:nvPr/>
        </p:nvSpPr>
        <p:spPr>
          <a:xfrm>
            <a:off x="792242" y="643830"/>
            <a:ext cx="2123625" cy="14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spc="-25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TECH STACK &amp; ARCHITECTURE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98086" y="884833"/>
            <a:ext cx="10795524" cy="461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spc="-58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Built on </a:t>
            </a:r>
            <a:pPr algn="l" indent="0" marL="0">
              <a:lnSpc>
                <a:spcPct val="104000"/>
              </a:lnSpc>
              <a:buNone/>
            </a:pPr>
            <a:r>
              <a:rPr lang="en-US" sz="2900" spc="-58" kern="0" dirty="0">
                <a:solidFill>
                  <a:srgbClr val="BE49D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Modern, Scalable Infrastructure</a:t>
            </a:r>
            <a:endParaRPr lang="en-US" sz="2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814215"/>
            <a:ext cx="4164900" cy="41650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93784" y="1655961"/>
            <a:ext cx="5206175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29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Frontend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293784" y="2010569"/>
            <a:ext cx="5206175" cy="760115"/>
          </a:xfrm>
          <a:prstGeom prst="rect">
            <a:avLst/>
          </a:prstGeom>
          <a:noFill/>
          <a:ln/>
        </p:spPr>
        <p:txBody>
          <a:bodyPr wrap="square" lIns="0" tIns="62836" rIns="0" bIns="0" rtlCol="0" anchor="t">
            <a:normAutofit/>
          </a:bodyPr>
          <a:lstStyle/>
          <a:p>
            <a:pPr algn="l" marL="243840" indent="-243840">
              <a:lnSpc>
                <a:spcPct val="119000"/>
              </a:lnSpc>
              <a:buSzPct val="100000"/>
              <a:buChar char="•"/>
            </a:pPr>
            <a:r>
              <a:rPr lang="en-US" sz="1200" spc="-25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React.js (web dashboard)</a:t>
            </a:r>
            <a:endParaRPr lang="en-US" sz="1200" dirty="0"/>
          </a:p>
          <a:p>
            <a:pPr algn="l" marL="243840" indent="-243840">
              <a:lnSpc>
                <a:spcPct val="119000"/>
              </a:lnSpc>
              <a:buSzPct val="100000"/>
              <a:buChar char="•"/>
            </a:pPr>
            <a:r>
              <a:rPr lang="en-US" sz="1200" spc="-25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React Native (citizen app)</a:t>
            </a:r>
            <a:endParaRPr lang="en-US" sz="1200" dirty="0"/>
          </a:p>
          <a:p>
            <a:pPr algn="l" marL="243840" indent="-243840">
              <a:lnSpc>
                <a:spcPct val="119000"/>
              </a:lnSpc>
              <a:buSzPct val="100000"/>
              <a:buChar char="•"/>
            </a:pPr>
            <a:r>
              <a:rPr lang="en-US" sz="1200" spc="-25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Mapbox / Google Maps SDK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93784" y="2894310"/>
            <a:ext cx="5206175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29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Backend &amp; Data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293784" y="3248918"/>
            <a:ext cx="5206175" cy="760115"/>
          </a:xfrm>
          <a:prstGeom prst="rect">
            <a:avLst/>
          </a:prstGeom>
          <a:noFill/>
          <a:ln/>
        </p:spPr>
        <p:txBody>
          <a:bodyPr wrap="square" lIns="0" tIns="62836" rIns="0" bIns="0" rtlCol="0" anchor="t">
            <a:normAutofit/>
          </a:bodyPr>
          <a:lstStyle/>
          <a:p>
            <a:pPr algn="l" marL="243840" indent="-243840">
              <a:lnSpc>
                <a:spcPct val="119000"/>
              </a:lnSpc>
              <a:buSzPct val="100000"/>
              <a:buChar char="•"/>
            </a:pPr>
            <a:r>
              <a:rPr lang="en-US" sz="1200" spc="-25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Node.js (Express) APIs</a:t>
            </a:r>
            <a:endParaRPr lang="en-US" sz="1200" dirty="0"/>
          </a:p>
          <a:p>
            <a:pPr algn="l" marL="243840" indent="-243840">
              <a:lnSpc>
                <a:spcPct val="119000"/>
              </a:lnSpc>
              <a:buSzPct val="100000"/>
              <a:buChar char="•"/>
            </a:pPr>
            <a:r>
              <a:rPr lang="en-US" sz="1200" spc="-25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PostgreSQL + PostGIS (geo data)</a:t>
            </a:r>
            <a:endParaRPr lang="en-US" sz="1200" dirty="0"/>
          </a:p>
          <a:p>
            <a:pPr algn="l" marL="243840" indent="-243840">
              <a:lnSpc>
                <a:spcPct val="119000"/>
              </a:lnSpc>
              <a:buSzPct val="100000"/>
              <a:buChar char="•"/>
            </a:pPr>
            <a:r>
              <a:rPr lang="en-US" sz="1200" spc="-25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WebSockets for live SOS feed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93784" y="4132659"/>
            <a:ext cx="5206175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29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AI / ML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293784" y="4487267"/>
            <a:ext cx="5206175" cy="492323"/>
          </a:xfrm>
          <a:prstGeom prst="rect">
            <a:avLst/>
          </a:prstGeom>
          <a:noFill/>
          <a:ln/>
        </p:spPr>
        <p:txBody>
          <a:bodyPr wrap="square" lIns="0" tIns="62836" rIns="0" bIns="0" rtlCol="0" anchor="t">
            <a:normAutofit/>
          </a:bodyPr>
          <a:lstStyle/>
          <a:p>
            <a:pPr algn="l" marL="243840" indent="-243840">
              <a:lnSpc>
                <a:spcPct val="119000"/>
              </a:lnSpc>
              <a:buSzPct val="100000"/>
              <a:buChar char="•"/>
            </a:pPr>
            <a:r>
              <a:rPr lang="en-US" sz="1200" spc="-25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Risk prediction model (rainfall, seismic, river-level, historical data)</a:t>
            </a:r>
            <a:endParaRPr lang="en-US" sz="1200" dirty="0"/>
          </a:p>
          <a:p>
            <a:pPr algn="l" marL="243840" indent="-243840">
              <a:lnSpc>
                <a:spcPct val="119000"/>
              </a:lnSpc>
              <a:buSzPct val="100000"/>
              <a:buChar char="•"/>
            </a:pPr>
            <a:r>
              <a:rPr lang="en-US" sz="1200" spc="-25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SOS clustering for urgency ranking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93784" y="5103217"/>
            <a:ext cx="5206175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29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Cloud &amp; Alerts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293784" y="5457825"/>
            <a:ext cx="5206175" cy="760115"/>
          </a:xfrm>
          <a:prstGeom prst="rect">
            <a:avLst/>
          </a:prstGeom>
          <a:noFill/>
          <a:ln/>
        </p:spPr>
        <p:txBody>
          <a:bodyPr wrap="square" lIns="0" tIns="62836" rIns="0" bIns="0" rtlCol="0" anchor="t">
            <a:normAutofit/>
          </a:bodyPr>
          <a:lstStyle/>
          <a:p>
            <a:pPr algn="l" marL="243840" indent="-243840">
              <a:lnSpc>
                <a:spcPct val="119000"/>
              </a:lnSpc>
              <a:buSzPct val="100000"/>
              <a:buChar char="•"/>
            </a:pPr>
            <a:r>
              <a:rPr lang="en-US" sz="1200" spc="-25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AWS / GCP deployment</a:t>
            </a:r>
            <a:endParaRPr lang="en-US" sz="1200" dirty="0"/>
          </a:p>
          <a:p>
            <a:pPr algn="l" marL="243840" indent="-243840">
              <a:lnSpc>
                <a:spcPct val="119000"/>
              </a:lnSpc>
              <a:buSzPct val="100000"/>
              <a:buChar char="•"/>
            </a:pPr>
            <a:r>
              <a:rPr lang="en-US" sz="1200" spc="-25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Firebase Cloud Messaging (alerts)</a:t>
            </a:r>
            <a:endParaRPr lang="en-US" sz="1200" dirty="0"/>
          </a:p>
          <a:p>
            <a:pPr algn="l" marL="243840" indent="-243840">
              <a:lnSpc>
                <a:spcPct val="119000"/>
              </a:lnSpc>
              <a:buSzPct val="100000"/>
              <a:buChar char="•"/>
            </a:pPr>
            <a:r>
              <a:rPr lang="en-US" sz="1200" spc="-25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Twilio / SMS gateway fallback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673199"/>
            <a:ext cx="910111" cy="227211"/>
          </a:xfrm>
          <a:prstGeom prst="roundRect">
            <a:avLst>
              <a:gd name="adj" fmla="val 22124"/>
            </a:avLst>
          </a:prstGeom>
          <a:solidFill>
            <a:srgbClr val="F0D4F7"/>
          </a:solidFill>
          <a:ln/>
        </p:spPr>
      </p:sp>
      <p:sp>
        <p:nvSpPr>
          <p:cNvPr id="3" name="Text 1"/>
          <p:cNvSpPr/>
          <p:nvPr/>
        </p:nvSpPr>
        <p:spPr>
          <a:xfrm>
            <a:off x="787777" y="718046"/>
            <a:ext cx="134031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spc="-24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682906" y="673199"/>
            <a:ext cx="2712573" cy="227211"/>
          </a:xfrm>
          <a:prstGeom prst="roundRect">
            <a:avLst>
              <a:gd name="adj" fmla="val 22124"/>
            </a:avLst>
          </a:prstGeom>
          <a:noFill/>
          <a:ln w="6350">
            <a:solidFill>
              <a:srgbClr val="BE49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72598" y="718046"/>
            <a:ext cx="314277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spc="-24" kern="0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END-TO-END FLOW ACROSS THE DISASTER LIFECYCLE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98086" y="945257"/>
            <a:ext cx="10795524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spc="-55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From </a:t>
            </a:r>
            <a:pPr algn="l" indent="0" marL="0">
              <a:lnSpc>
                <a:spcPct val="104000"/>
              </a:lnSpc>
              <a:buNone/>
            </a:pPr>
            <a:r>
              <a:rPr lang="en-US" sz="2750" spc="-55" kern="0" dirty="0">
                <a:solidFill>
                  <a:srgbClr val="BE49D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Prediction to Government Escalation</a:t>
            </a:r>
            <a:endParaRPr lang="en-US" sz="2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863" y="1553567"/>
            <a:ext cx="8029870" cy="34627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21207" y="4366343"/>
            <a:ext cx="1714420" cy="21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7" kern="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Citizen SOS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621207" y="3564775"/>
            <a:ext cx="1714420" cy="214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7" kern="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Alerts &amp; Map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621207" y="2771305"/>
            <a:ext cx="1714420" cy="214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7" kern="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ML Risk Engine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621207" y="1969738"/>
            <a:ext cx="1714420" cy="214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27" kern="0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 Sources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98086" y="5142508"/>
            <a:ext cx="11405108" cy="209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b="1" spc="-24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Prediction → Citizen Action → Rescue Coordination → Resource Visibility → Government Escalation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8086" y="5478165"/>
            <a:ext cx="10795524" cy="706537"/>
          </a:xfrm>
          <a:prstGeom prst="roundRect">
            <a:avLst>
              <a:gd name="adj" fmla="val 8894"/>
            </a:avLst>
          </a:prstGeom>
          <a:solidFill>
            <a:srgbClr val="F0D4F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05" y="5636419"/>
            <a:ext cx="186923" cy="14952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4047" y="5627588"/>
            <a:ext cx="10160043" cy="41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b="1" spc="-24" kern="0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Core Innovation:</a:t>
            </a:r>
            <a:pPr algn="l" indent="0" marL="0">
              <a:lnSpc>
                <a:spcPct val="117000"/>
              </a:lnSpc>
              <a:buNone/>
            </a:pPr>
            <a:r>
              <a:rPr lang="en-US" sz="1150" spc="-24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Most systems stop at prediction. Aapda Setu closes the full loop — one platform, four connected roles (citizens, officials, hospitals, government) — across all disaster types.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58403"/>
            <a:ext cx="1369879" cy="257572"/>
          </a:xfrm>
          <a:prstGeom prst="roundRect">
            <a:avLst>
              <a:gd name="adj" fmla="val 22119"/>
            </a:avLst>
          </a:prstGeom>
          <a:solidFill>
            <a:srgbClr val="F0D4F7"/>
          </a:solidFill>
          <a:ln/>
        </p:spPr>
      </p:sp>
      <p:sp>
        <p:nvSpPr>
          <p:cNvPr id="3" name="Text 1"/>
          <p:cNvSpPr/>
          <p:nvPr/>
        </p:nvSpPr>
        <p:spPr>
          <a:xfrm>
            <a:off x="799782" y="609203"/>
            <a:ext cx="1776070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IMPACT &amp; FEASIBILITY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98086" y="873621"/>
            <a:ext cx="10795524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spc="-63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Impact Across </a:t>
            </a:r>
            <a:pPr algn="l" indent="0" marL="0">
              <a:lnSpc>
                <a:spcPct val="104000"/>
              </a:lnSpc>
              <a:buNone/>
            </a:pPr>
            <a:r>
              <a:rPr lang="en-US" sz="3100" spc="-63" kern="0" dirty="0">
                <a:solidFill>
                  <a:srgbClr val="BE49D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All Stakeholders</a:t>
            </a:r>
            <a:endParaRPr lang="en-US" sz="3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1588393"/>
            <a:ext cx="5325731" cy="12146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2795" y="1776909"/>
            <a:ext cx="4872511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Citizens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62795" y="2112665"/>
            <a:ext cx="4872511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Faster alerts, clear shelter guidance, a direct rescue signal when stuck.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7879" y="1588393"/>
            <a:ext cx="5325731" cy="12146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32588" y="1776909"/>
            <a:ext cx="4872511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Officials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6432588" y="2112665"/>
            <a:ext cx="4872511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situational awareness enables prioritized, data-driven rescue dispatch.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2947095"/>
            <a:ext cx="5325731" cy="12146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2795" y="3135610"/>
            <a:ext cx="4872511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Hospitals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962795" y="3471366"/>
            <a:ext cx="4872511" cy="250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Integrated into disaster response instead of operating in isolation.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67879" y="2947095"/>
            <a:ext cx="5325731" cy="121463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32588" y="3135610"/>
            <a:ext cx="4872511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Government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6432588" y="3471366"/>
            <a:ext cx="4872511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Faster, data-backed resource escalation — replacing manual phone coordination.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98086" y="4377829"/>
            <a:ext cx="10795524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31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Feasibility &amp; Scalability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698086" y="4843264"/>
            <a:ext cx="10795524" cy="1456234"/>
          </a:xfrm>
          <a:prstGeom prst="rect">
            <a:avLst/>
          </a:prstGeom>
          <a:noFill/>
          <a:ln/>
        </p:spPr>
        <p:txBody>
          <a:bodyPr wrap="square" lIns="0" tIns="67823" rIns="0" bIns="0" rtlCol="0" anchor="t">
            <a:normAutofit/>
          </a:bodyPr>
          <a:lstStyle/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MVP built on real historical flood data; framework is disaster-agnostic.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Modular services (prediction, SOS, inventory, escalation) scale independently.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Scales district → state → national by adding data feeds.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Role-based access for citizen / official / hospital / authority tiers.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Uses existing public data sources — low data-acquisition cost.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1189534"/>
            <a:ext cx="1220360" cy="303113"/>
          </a:xfrm>
          <a:prstGeom prst="roundRect">
            <a:avLst>
              <a:gd name="adj" fmla="val 22112"/>
            </a:avLst>
          </a:prstGeom>
          <a:solidFill>
            <a:srgbClr val="F0D4F7"/>
          </a:solidFill>
          <a:ln/>
        </p:spPr>
      </p:sp>
      <p:sp>
        <p:nvSpPr>
          <p:cNvPr id="3" name="Text 1"/>
          <p:cNvSpPr/>
          <p:nvPr/>
        </p:nvSpPr>
        <p:spPr>
          <a:xfrm>
            <a:off x="817740" y="1249362"/>
            <a:ext cx="1590635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FUTURE SCOPE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8086" y="1572419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The Roadmap </a:t>
            </a:r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BE49D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Ahead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98086" y="2458244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01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98086" y="2771874"/>
            <a:ext cx="3465525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7" name="Text 5"/>
          <p:cNvSpPr/>
          <p:nvPr/>
        </p:nvSpPr>
        <p:spPr>
          <a:xfrm>
            <a:off x="698086" y="2922389"/>
            <a:ext cx="346552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Extended Risk Models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98086" y="3335338"/>
            <a:ext cx="3465525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Extend risk models to earthquake &amp; tsunami with dedicated datasets.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363035" y="2458244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363035" y="2771874"/>
            <a:ext cx="3465525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1" name="Text 9"/>
          <p:cNvSpPr/>
          <p:nvPr/>
        </p:nvSpPr>
        <p:spPr>
          <a:xfrm>
            <a:off x="4363035" y="2922389"/>
            <a:ext cx="346552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NDMA Integration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63035" y="3335338"/>
            <a:ext cx="3465525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Integrate with NDMA / state disaster management data feeds.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027985" y="2458244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027985" y="2771874"/>
            <a:ext cx="3465624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5" name="Text 13"/>
          <p:cNvSpPr/>
          <p:nvPr/>
        </p:nvSpPr>
        <p:spPr>
          <a:xfrm>
            <a:off x="8027985" y="2922389"/>
            <a:ext cx="34656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Offline SOS Mode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27985" y="3335338"/>
            <a:ext cx="34656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Offline / low-connectivity SOS mode for network-hit disaster zones.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98086" y="4322663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98086" y="4636294"/>
            <a:ext cx="5298049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9" name="Text 17"/>
          <p:cNvSpPr/>
          <p:nvPr/>
        </p:nvSpPr>
        <p:spPr>
          <a:xfrm>
            <a:off x="698086" y="4786809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Predictive Pre-Positioning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8086" y="5199757"/>
            <a:ext cx="529804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Predictive resource pre-positioning based on risk forecasts.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195560" y="4322663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195560" y="4636294"/>
            <a:ext cx="5298049" cy="2540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23" name="Text 21"/>
          <p:cNvSpPr/>
          <p:nvPr/>
        </p:nvSpPr>
        <p:spPr>
          <a:xfrm>
            <a:off x="6195560" y="4786809"/>
            <a:ext cx="529804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Voice-Based Alerts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95560" y="5199757"/>
            <a:ext cx="529804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Multi-language voice-based alerts for accessibility.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921246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BE49D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Thank You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569108" y="2031405"/>
            <a:ext cx="5924501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Before it strikes, during the chaos, after the call for help — Aapda Setu bridges every gap.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5269971" y="1807071"/>
            <a:ext cx="25399" cy="1087041"/>
          </a:xfrm>
          <a:prstGeom prst="roundRect">
            <a:avLst>
              <a:gd name="adj" fmla="val 50001"/>
            </a:avLst>
          </a:prstGeom>
          <a:solidFill>
            <a:srgbClr val="BE49DF"/>
          </a:solidFill>
          <a:ln/>
        </p:spPr>
      </p:sp>
      <p:sp>
        <p:nvSpPr>
          <p:cNvPr id="6" name="Shape 3"/>
          <p:cNvSpPr/>
          <p:nvPr/>
        </p:nvSpPr>
        <p:spPr>
          <a:xfrm>
            <a:off x="5269971" y="3118445"/>
            <a:ext cx="6223638" cy="2274689"/>
          </a:xfrm>
          <a:prstGeom prst="roundRect">
            <a:avLst>
              <a:gd name="adj" fmla="val 3683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76321" y="3124795"/>
            <a:ext cx="6210938" cy="1130995"/>
          </a:xfrm>
          <a:custGeom>
            <a:avLst/>
            <a:gdLst/>
            <a:ahLst/>
            <a:cxnLst/>
            <a:rect l="l" t="t" r="r" b="b"/>
            <a:pathLst>
              <a:path w="6210938" h="1130995">
                <a:moveTo>
                  <a:pt x="69818" y="0"/>
                </a:moveTo>
                <a:lnTo>
                  <a:pt x="6141121" y="0"/>
                </a:lnTo>
                <a:arcTo hR="69820" wR="69818" stAng="16200000" swAng="5400000"/>
                <a:lnTo>
                  <a:pt x="6210938" y="1130995"/>
                </a:lnTo>
                <a:lnTo>
                  <a:pt x="0" y="1130995"/>
                </a:lnTo>
                <a:lnTo>
                  <a:pt x="0" y="69820"/>
                </a:lnTo>
                <a:arcTo hR="69820" wR="69818" stAng="10800000" swAng="5400000"/>
                <a:close/>
              </a:path>
            </a:pathLst>
          </a:custGeom>
          <a:solidFill>
            <a:srgbClr val="F0D4F7"/>
          </a:solidFill>
          <a:ln/>
        </p:spPr>
      </p:sp>
      <p:sp>
        <p:nvSpPr>
          <p:cNvPr id="8" name="Text 5"/>
          <p:cNvSpPr/>
          <p:nvPr/>
        </p:nvSpPr>
        <p:spPr>
          <a:xfrm>
            <a:off x="5475746" y="3324225"/>
            <a:ext cx="581208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AAPDA SETU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75746" y="3737173"/>
            <a:ext cx="581208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 Platform. Every Disaster. Every Stage.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276321" y="4255790"/>
            <a:ext cx="6210938" cy="1130995"/>
          </a:xfrm>
          <a:custGeom>
            <a:avLst/>
            <a:gdLst/>
            <a:ahLst/>
            <a:cxnLst/>
            <a:rect l="l" t="t" r="r" b="b"/>
            <a:pathLst>
              <a:path w="6210938" h="1130995">
                <a:moveTo>
                  <a:pt x="0" y="0"/>
                </a:moveTo>
                <a:lnTo>
                  <a:pt x="6210938" y="0"/>
                </a:lnTo>
                <a:lnTo>
                  <a:pt x="6210938" y="1061175"/>
                </a:lnTo>
                <a:arcTo hR="69820" wR="69818" stAng="0" swAng="5400000"/>
                <a:lnTo>
                  <a:pt x="69818" y="1130995"/>
                </a:lnTo>
                <a:arcTo hR="69820" wR="69818" stAng="5400000" swAng="5400000"/>
                <a:lnTo>
                  <a:pt x="0" y="0"/>
                </a:lnTo>
                <a:close/>
              </a:path>
            </a:pathLst>
          </a:custGeom>
          <a:solidFill>
            <a:srgbClr val="F0D4F7"/>
          </a:solidFill>
          <a:ln/>
        </p:spPr>
      </p:sp>
      <p:sp>
        <p:nvSpPr>
          <p:cNvPr id="11" name="Shape 8"/>
          <p:cNvSpPr/>
          <p:nvPr/>
        </p:nvSpPr>
        <p:spPr>
          <a:xfrm>
            <a:off x="5276321" y="4255790"/>
            <a:ext cx="6210938" cy="25400"/>
          </a:xfrm>
          <a:prstGeom prst="roundRect">
            <a:avLst>
              <a:gd name="adj" fmla="val 49999"/>
            </a:avLst>
          </a:prstGeom>
          <a:solidFill>
            <a:srgbClr val="D6BADD"/>
          </a:solidFill>
          <a:ln/>
        </p:spPr>
      </p:sp>
      <p:sp>
        <p:nvSpPr>
          <p:cNvPr id="12" name="Text 9"/>
          <p:cNvSpPr/>
          <p:nvPr/>
        </p:nvSpPr>
        <p:spPr>
          <a:xfrm>
            <a:off x="5475746" y="4455220"/>
            <a:ext cx="581208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Team Semicolon Squad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75746" y="4868168"/>
            <a:ext cx="581208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Hardik Dagar · Ananya Shree · Akshara Gupta · Divyansh Bhardwaj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5269971" y="5617468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Designed by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spc="-31" kern="0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Divyansh Bhardwaj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2026-08-16T08:44:23Z</dcterms:created>
  <dcterms:modified xsi:type="dcterms:W3CDTF">2026-08-16T08:44:23Z</dcterms:modified>
</cp:coreProperties>
</file>